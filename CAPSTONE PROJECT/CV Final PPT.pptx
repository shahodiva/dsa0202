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79" r:id="rId5"/>
    <p:sldId id="278" r:id="rId6"/>
    <p:sldId id="276" r:id="rId7"/>
    <p:sldId id="277" r:id="rId8"/>
    <p:sldId id="280" r:id="rId9"/>
    <p:sldId id="281" r:id="rId10"/>
    <p:sldId id="271" r:id="rId11"/>
    <p:sldId id="282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https://img.freepik.com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https://img.freepik.com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666E-AA98-EA7E-A24B-68B57292D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CA879-3B03-BCCD-C3F2-98B394DF9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B9FFA-623B-ED73-EB12-530F69B36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2BDF3-251C-6579-E94E-4AC9BE16B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https://img.freepik.com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33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93A7FA51-77E7-45E5-CFCF-2147CE6CCD70}"/>
              </a:ext>
            </a:extLst>
          </p:cNvPr>
          <p:cNvSpPr txBox="1"/>
          <p:nvPr/>
        </p:nvSpPr>
        <p:spPr>
          <a:xfrm>
            <a:off x="195594" y="1721877"/>
            <a:ext cx="9153089" cy="15600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61340" algn="ctr">
              <a:lnSpc>
                <a:spcPct val="100000"/>
              </a:lnSpc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AI-BASED DOCUMENT SCANNER AND OCR WEB APPLICATION</a:t>
            </a:r>
            <a:endParaRPr lang="en-IN" sz="2400" b="1" spc="-25" dirty="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R="561340" algn="ctr">
              <a:lnSpc>
                <a:spcPct val="100000"/>
              </a:lnSpc>
            </a:pPr>
            <a:r>
              <a:rPr lang="en-IN" sz="2000" b="1" spc="-25" dirty="0">
                <a:latin typeface="Times New Roman"/>
                <a:cs typeface="Times New Roman"/>
              </a:rPr>
              <a:t>DSA-0202</a:t>
            </a:r>
          </a:p>
          <a:p>
            <a:pPr marR="561340" algn="ctr">
              <a:lnSpc>
                <a:spcPct val="100000"/>
              </a:lnSpc>
            </a:pPr>
            <a:r>
              <a:rPr lang="en-IN" sz="2000" b="1" spc="-25" dirty="0">
                <a:latin typeface="Times New Roman"/>
                <a:cs typeface="Times New Roman"/>
              </a:rPr>
              <a:t>Computer Vision</a:t>
            </a:r>
            <a:endParaRPr sz="2400" dirty="0">
              <a:latin typeface="Times New Roman"/>
              <a:cs typeface="Times New Roman"/>
            </a:endParaRPr>
          </a:p>
          <a:p>
            <a:pPr marR="558800">
              <a:lnSpc>
                <a:spcPct val="100000"/>
              </a:lnSpc>
              <a:spcBef>
                <a:spcPts val="1545"/>
              </a:spcBef>
            </a:pPr>
            <a:r>
              <a:rPr sz="2400" b="1" dirty="0">
                <a:latin typeface="Times New Roman"/>
                <a:cs typeface="Times New Roman"/>
              </a:rPr>
              <a:t>Course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Faculty: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Dr.</a:t>
            </a:r>
            <a:r>
              <a:rPr lang="en-IN" sz="2400" spc="-10" dirty="0">
                <a:latin typeface="Times New Roman"/>
                <a:cs typeface="Times New Roman"/>
              </a:rPr>
              <a:t>M.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lang="en-IN" sz="2400" spc="-10" dirty="0" err="1">
                <a:latin typeface="Times New Roman"/>
                <a:cs typeface="Times New Roman"/>
              </a:rPr>
              <a:t>Mayuranathan</a:t>
            </a:r>
            <a:endParaRPr lang="en-IN" sz="2400" spc="-10" dirty="0">
              <a:latin typeface="Times New Roman"/>
              <a:cs typeface="Times New Roman"/>
            </a:endParaRPr>
          </a:p>
        </p:txBody>
      </p:sp>
      <p:sp>
        <p:nvSpPr>
          <p:cNvPr id="13" name="object 4" descr="$PPTXTitle">
            <a:extLst>
              <a:ext uri="{FF2B5EF4-FFF2-40B4-BE49-F238E27FC236}">
                <a16:creationId xmlns:a16="http://schemas.microsoft.com/office/drawing/2014/main" id="{705AADF0-71BD-B13F-0B02-E521B486C4F3}"/>
              </a:ext>
            </a:extLst>
          </p:cNvPr>
          <p:cNvSpPr txBox="1">
            <a:spLocks/>
          </p:cNvSpPr>
          <p:nvPr/>
        </p:nvSpPr>
        <p:spPr>
          <a:xfrm>
            <a:off x="-50582" y="983906"/>
            <a:ext cx="9081251" cy="737971"/>
          </a:xfrm>
          <a:prstGeom prst="rect">
            <a:avLst/>
          </a:prstGeom>
        </p:spPr>
        <p:txBody>
          <a:bodyPr vert="horz" wrap="square" lIns="0" tIns="304114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2800" dirty="0"/>
              <a:t>Capstone Project</a:t>
            </a:r>
          </a:p>
        </p:txBody>
      </p:sp>
      <p:pic>
        <p:nvPicPr>
          <p:cNvPr id="14" name="Picture 2" descr="SSE-Computer Science and Engineering">
            <a:extLst>
              <a:ext uri="{FF2B5EF4-FFF2-40B4-BE49-F238E27FC236}">
                <a16:creationId xmlns:a16="http://schemas.microsoft.com/office/drawing/2014/main" id="{1BC87F84-99C5-A698-4E8B-9D5AEADB1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75" y="-17209"/>
            <a:ext cx="8623139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8F733FB-A5A0-32FB-222D-4A84766CC21A}"/>
              </a:ext>
            </a:extLst>
          </p:cNvPr>
          <p:cNvSpPr/>
          <p:nvPr/>
        </p:nvSpPr>
        <p:spPr>
          <a:xfrm>
            <a:off x="-272457" y="2269200"/>
            <a:ext cx="9525000" cy="3065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58800" algn="r">
              <a:lnSpc>
                <a:spcPct val="100000"/>
              </a:lnSpc>
              <a:spcBef>
                <a:spcPts val="1545"/>
              </a:spcBef>
            </a:pPr>
            <a:r>
              <a:rPr lang="en-IN" sz="1400" b="1" dirty="0">
                <a:solidFill>
                  <a:srgbClr val="205F9A"/>
                </a:solidFill>
                <a:latin typeface="Times New Roman"/>
                <a:cs typeface="Times New Roman"/>
              </a:rPr>
              <a:t>Presented</a:t>
            </a:r>
            <a:r>
              <a:rPr lang="en-IN" sz="1400" b="1" spc="-120" dirty="0">
                <a:solidFill>
                  <a:srgbClr val="205F9A"/>
                </a:solidFill>
                <a:latin typeface="Times New Roman"/>
                <a:cs typeface="Times New Roman"/>
              </a:rPr>
              <a:t> </a:t>
            </a:r>
            <a:r>
              <a:rPr lang="en-IN" sz="1400" b="1" spc="-25" dirty="0">
                <a:solidFill>
                  <a:srgbClr val="205F9A"/>
                </a:solidFill>
                <a:latin typeface="Times New Roman"/>
                <a:cs typeface="Times New Roman"/>
              </a:rPr>
              <a:t>By:</a:t>
            </a:r>
          </a:p>
          <a:p>
            <a:pPr marR="558800" algn="r">
              <a:lnSpc>
                <a:spcPct val="100000"/>
              </a:lnSpc>
              <a:spcBef>
                <a:spcPts val="1545"/>
              </a:spcBef>
            </a:pPr>
            <a:r>
              <a:rPr lang="en-IN" sz="1400" b="1" spc="-25" dirty="0" err="1">
                <a:solidFill>
                  <a:schemeClr val="tx1"/>
                </a:solidFill>
                <a:latin typeface="Times New Roman"/>
                <a:cs typeface="Times New Roman"/>
              </a:rPr>
              <a:t>L.Ashraf</a:t>
            </a:r>
            <a:r>
              <a:rPr lang="en-IN" sz="14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Ali(192524192)</a:t>
            </a:r>
            <a:endParaRPr lang="en-IN" sz="14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R="558800" algn="r">
              <a:lnSpc>
                <a:spcPct val="100000"/>
              </a:lnSpc>
              <a:spcBef>
                <a:spcPts val="1545"/>
              </a:spcBef>
            </a:pPr>
            <a:r>
              <a:rPr lang="en-IN" sz="1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P.Divakaran</a:t>
            </a:r>
            <a:r>
              <a:rPr lang="en-IN" sz="1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(192424260)</a:t>
            </a:r>
          </a:p>
          <a:p>
            <a:pPr marR="558800" algn="r">
              <a:lnSpc>
                <a:spcPct val="100000"/>
              </a:lnSpc>
              <a:spcBef>
                <a:spcPts val="1545"/>
              </a:spcBef>
            </a:pPr>
            <a:r>
              <a:rPr lang="en-IN" sz="1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Kishore S.P(192511081)</a:t>
            </a:r>
          </a:p>
          <a:p>
            <a:pPr marR="558800" algn="r">
              <a:lnSpc>
                <a:spcPct val="100000"/>
              </a:lnSpc>
              <a:spcBef>
                <a:spcPts val="1545"/>
              </a:spcBef>
            </a:pPr>
            <a:r>
              <a:rPr lang="en-IN" sz="1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S.Mithun</a:t>
            </a:r>
            <a:r>
              <a:rPr lang="en-IN" sz="1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Senthil(192324056)</a:t>
            </a:r>
          </a:p>
          <a:p>
            <a:pPr marR="558800" algn="r">
              <a:lnSpc>
                <a:spcPct val="100000"/>
              </a:lnSpc>
              <a:spcBef>
                <a:spcPts val="1545"/>
              </a:spcBef>
            </a:pPr>
            <a:r>
              <a:rPr lang="en-IN" sz="1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J.Madhan</a:t>
            </a:r>
            <a:r>
              <a:rPr lang="en-IN" sz="1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Kumar(192524390)</a:t>
            </a:r>
          </a:p>
          <a:p>
            <a:pPr marR="558800" algn="r">
              <a:lnSpc>
                <a:spcPct val="100000"/>
              </a:lnSpc>
              <a:spcBef>
                <a:spcPts val="1545"/>
              </a:spcBef>
            </a:pPr>
            <a:endParaRPr lang="en-I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7" name="Text 3"/>
          <p:cNvSpPr/>
          <p:nvPr/>
        </p:nvSpPr>
        <p:spPr>
          <a:xfrm>
            <a:off x="457200" y="1166947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A4939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 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40385" y="1907899"/>
            <a:ext cx="806323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b="1" dirty="0"/>
              <a:t>Paper documents are widely used in colleges, offices, libraries, and businesses.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b="1" dirty="0"/>
              <a:t>Manual conversion of paper records into digital text is time-consuming.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b="1" dirty="0"/>
              <a:t>Traditional scanning mainly creates image files without editable text.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b="1" dirty="0"/>
              <a:t>OCR enables computers to recognize text contained in document images.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b="1" dirty="0"/>
              <a:t>An AI-assisted web scanner provides faster and convenient digitization.</a:t>
            </a:r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246CDCFB-515C-8768-5BF0-1E7581595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0" y="35201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1231788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dirty="0">
                <a:solidFill>
                  <a:srgbClr val="A4939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</a:t>
            </a:r>
            <a:r>
              <a:rPr lang="en-IN" sz="2400" dirty="0"/>
              <a:t>Objectives</a:t>
            </a:r>
            <a:endParaRPr lang="en-US" sz="2400" dirty="0">
              <a:solidFill>
                <a:srgbClr val="A49393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67335" y="1917080"/>
            <a:ext cx="860933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/>
              <a:t>Develop a web application for uploading or capturing document images.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/>
              <a:t>Improve document quality using image preprocessing techniques.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/>
              <a:t>Extract text automatically using an OCR recognition engine.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/>
              <a:t>Provide editable, searchable, and copyable extracted text.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/>
              <a:t>Allow users to save and download digitized document content.</a:t>
            </a: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D5CE2036-0553-F093-3CBC-AAA1DE7C2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DF585-6403-58C3-348A-B8E5A4B4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01A202-5FCA-036A-FD6E-DEBA9669C9D5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EED6D3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A3E344-12CB-D0A2-0776-A28255AA111B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E8B4B8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F2BF41-59CB-E38D-FF8B-A492F53A33D1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1600" dirty="0"/>
              <a:t>8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B03CA8-9D6E-5403-F19E-A11576BB723D}"/>
              </a:ext>
            </a:extLst>
          </p:cNvPr>
          <p:cNvSpPr/>
          <p:nvPr/>
        </p:nvSpPr>
        <p:spPr>
          <a:xfrm>
            <a:off x="77470" y="1168217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FA4FA6-CD2E-6016-B3AE-610A0716C2C1}"/>
              </a:ext>
            </a:extLst>
          </p:cNvPr>
          <p:cNvSpPr/>
          <p:nvPr/>
        </p:nvSpPr>
        <p:spPr>
          <a:xfrm>
            <a:off x="445770" y="1994194"/>
            <a:ext cx="824103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 algn="just">
              <a:buFont typeface="Wingdings" panose="05000000000000000000" charset="0"/>
              <a:buChar char="v"/>
            </a:pPr>
            <a:endParaRPr lang="en-US" alt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9C70C-1190-023B-B4A3-6431CF0D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8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8C58-906A-4909-EF4E-AA8E06F56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5">
            <a:extLst>
              <a:ext uri="{FF2B5EF4-FFF2-40B4-BE49-F238E27FC236}">
                <a16:creationId xmlns:a16="http://schemas.microsoft.com/office/drawing/2014/main" id="{18EC84BC-A3BC-D6C7-E7D2-58F2F3F88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870"/>
            <a:ext cx="628377" cy="31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7125A01B-137F-B6EA-38C9-D76BB936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77" y="86110"/>
            <a:ext cx="9144000" cy="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C6691617-6E16-7372-9DD7-9465897C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4" descr="$PPTXTitle">
            <a:extLst>
              <a:ext uri="{FF2B5EF4-FFF2-40B4-BE49-F238E27FC236}">
                <a16:creationId xmlns:a16="http://schemas.microsoft.com/office/drawing/2014/main" id="{54A01629-DD11-32B3-E6BA-6298A7D8083D}"/>
              </a:ext>
            </a:extLst>
          </p:cNvPr>
          <p:cNvSpPr txBox="1">
            <a:spLocks/>
          </p:cNvSpPr>
          <p:nvPr/>
        </p:nvSpPr>
        <p:spPr>
          <a:xfrm>
            <a:off x="2500131" y="1150162"/>
            <a:ext cx="5245627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fr-FR" sz="2400" b="1" dirty="0"/>
              <a:t>Module 1: Image Acquisition Model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7B7577B-27CE-BDC1-9E6D-C53BF8B34D06}"/>
              </a:ext>
            </a:extLst>
          </p:cNvPr>
          <p:cNvSpPr txBox="1"/>
          <p:nvPr/>
        </p:nvSpPr>
        <p:spPr>
          <a:xfrm>
            <a:off x="322344" y="1731397"/>
            <a:ext cx="960120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/>
              <a:t>Description:</a:t>
            </a:r>
            <a:br>
              <a:rPr lang="en-IN" sz="2000" dirty="0"/>
            </a:br>
            <a:r>
              <a:rPr lang="en-IN" sz="2000" dirty="0"/>
              <a:t>	Captures or uploads document images into the system.</a:t>
            </a:r>
          </a:p>
          <a:p>
            <a:r>
              <a:rPr lang="en-IN" sz="2000" b="1" dirty="0"/>
              <a:t>Function:</a:t>
            </a:r>
            <a:endParaRPr lang="en-IN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Capture documents using a camera.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Upload JPG/PNG images.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Preview the selected document.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Send the image to preprocessing. </a:t>
            </a:r>
          </a:p>
          <a:p>
            <a:r>
              <a:rPr lang="en-IN" sz="2000" b="1" dirty="0"/>
              <a:t>Outcome:</a:t>
            </a:r>
            <a:br>
              <a:rPr lang="en-IN" sz="2000" dirty="0"/>
            </a:br>
            <a:r>
              <a:rPr lang="en-IN" sz="2000" dirty="0"/>
              <a:t>A valid document image is obtained and prepared for further processing.</a:t>
            </a:r>
          </a:p>
        </p:txBody>
      </p:sp>
    </p:spTree>
    <p:extLst>
      <p:ext uri="{BB962C8B-B14F-4D97-AF65-F5344CB8AC3E}">
        <p14:creationId xmlns:p14="http://schemas.microsoft.com/office/powerpoint/2010/main" val="205903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8C0D-CD7B-5BF9-C8D1-83DA60B4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5">
            <a:extLst>
              <a:ext uri="{FF2B5EF4-FFF2-40B4-BE49-F238E27FC236}">
                <a16:creationId xmlns:a16="http://schemas.microsoft.com/office/drawing/2014/main" id="{AA2591B7-9318-076B-C488-DA5644D94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870"/>
            <a:ext cx="628377" cy="31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C8A960EC-22D4-26B9-7DF1-AB691D208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77" y="86110"/>
            <a:ext cx="9144000" cy="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B9B38CC3-EAB1-DF28-8491-3C4552BB0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4" descr="$PPTXTitle">
            <a:extLst>
              <a:ext uri="{FF2B5EF4-FFF2-40B4-BE49-F238E27FC236}">
                <a16:creationId xmlns:a16="http://schemas.microsoft.com/office/drawing/2014/main" id="{735136DC-ABA9-5F8B-4D9E-2256F0AC0485}"/>
              </a:ext>
            </a:extLst>
          </p:cNvPr>
          <p:cNvSpPr txBox="1">
            <a:spLocks/>
          </p:cNvSpPr>
          <p:nvPr/>
        </p:nvSpPr>
        <p:spPr>
          <a:xfrm>
            <a:off x="2000942" y="1208689"/>
            <a:ext cx="54102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2000" b="1" dirty="0"/>
              <a:t>Module 2 – Image Preprocessing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C1F6874B-0736-3006-7696-F005E514D667}"/>
              </a:ext>
            </a:extLst>
          </p:cNvPr>
          <p:cNvSpPr txBox="1"/>
          <p:nvPr/>
        </p:nvSpPr>
        <p:spPr>
          <a:xfrm>
            <a:off x="310073" y="1706861"/>
            <a:ext cx="960120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/>
              <a:t>Description:</a:t>
            </a:r>
            <a:br>
              <a:rPr lang="en-IN" dirty="0"/>
            </a:br>
            <a:r>
              <a:rPr lang="en-IN" dirty="0"/>
              <a:t>		Improves the quality of the captured document image before OCR.</a:t>
            </a:r>
          </a:p>
          <a:p>
            <a:r>
              <a:rPr lang="en-IN" b="1" dirty="0"/>
              <a:t>Function:</a:t>
            </a:r>
            <a:endParaRPr lang="en-IN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Remove noise and unwanted background.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Convert image to grayscale.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Adjust brightness and contrast.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Crop and resize the document.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Align the document properly. </a:t>
            </a:r>
          </a:p>
          <a:p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A clear and enhanced document image suitable for accurate OCR.</a:t>
            </a:r>
          </a:p>
        </p:txBody>
      </p:sp>
    </p:spTree>
    <p:extLst>
      <p:ext uri="{BB962C8B-B14F-4D97-AF65-F5344CB8AC3E}">
        <p14:creationId xmlns:p14="http://schemas.microsoft.com/office/powerpoint/2010/main" val="245937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34D6A-1980-3E7D-545E-FEC951F6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5">
            <a:extLst>
              <a:ext uri="{FF2B5EF4-FFF2-40B4-BE49-F238E27FC236}">
                <a16:creationId xmlns:a16="http://schemas.microsoft.com/office/drawing/2014/main" id="{3F53E58F-24B2-E678-D17C-6E63EDF90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870"/>
            <a:ext cx="628377" cy="31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E26BA26A-08F1-5D68-9D79-C87D694B3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77" y="86110"/>
            <a:ext cx="9144000" cy="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F9418380-4538-3913-9D8D-7DF138273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4" descr="$PPTXTitle">
            <a:extLst>
              <a:ext uri="{FF2B5EF4-FFF2-40B4-BE49-F238E27FC236}">
                <a16:creationId xmlns:a16="http://schemas.microsoft.com/office/drawing/2014/main" id="{44A6A500-B83D-E64E-0DB1-5ABB9E91F390}"/>
              </a:ext>
            </a:extLst>
          </p:cNvPr>
          <p:cNvSpPr txBox="1">
            <a:spLocks/>
          </p:cNvSpPr>
          <p:nvPr/>
        </p:nvSpPr>
        <p:spPr>
          <a:xfrm>
            <a:off x="1866900" y="1252100"/>
            <a:ext cx="541020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Module 3 – OCR Text Recognition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0D83FB8-EDFD-165A-8D60-2CF2C1E8EBBE}"/>
              </a:ext>
            </a:extLst>
          </p:cNvPr>
          <p:cNvSpPr txBox="1"/>
          <p:nvPr/>
        </p:nvSpPr>
        <p:spPr>
          <a:xfrm>
            <a:off x="311551" y="1667797"/>
            <a:ext cx="9601200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/>
              <a:t>Description:</a:t>
            </a:r>
            <a:br>
              <a:rPr lang="en-IN" sz="2000" dirty="0"/>
            </a:br>
            <a:r>
              <a:rPr lang="en-IN" sz="2000" dirty="0"/>
              <a:t>		Extracts text from the </a:t>
            </a:r>
            <a:r>
              <a:rPr lang="en-IN" sz="2000" dirty="0" err="1"/>
              <a:t>preprocessed</a:t>
            </a:r>
            <a:r>
              <a:rPr lang="en-IN" sz="2000" dirty="0"/>
              <a:t> document image.</a:t>
            </a:r>
          </a:p>
          <a:p>
            <a:r>
              <a:rPr lang="en-IN" sz="2000" b="1" dirty="0"/>
              <a:t>Function:</a:t>
            </a:r>
            <a:endParaRPr lang="en-IN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Detect characters and words.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Recognize printed text.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 image content into machine-readable text.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Identify text regions and arrangement.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initial extracted text. </a:t>
            </a:r>
          </a:p>
          <a:p>
            <a:r>
              <a:rPr lang="en-IN" sz="2000" b="1" dirty="0"/>
              <a:t>Outcome:</a:t>
            </a:r>
            <a:br>
              <a:rPr lang="en-IN" sz="2000" dirty="0"/>
            </a:br>
            <a:r>
              <a:rPr lang="en-IN" sz="2000" dirty="0"/>
              <a:t>The document image is converted into digital text.</a:t>
            </a:r>
          </a:p>
        </p:txBody>
      </p:sp>
    </p:spTree>
    <p:extLst>
      <p:ext uri="{BB962C8B-B14F-4D97-AF65-F5344CB8AC3E}">
        <p14:creationId xmlns:p14="http://schemas.microsoft.com/office/powerpoint/2010/main" val="229044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5D77-A596-394F-7FE8-9D0E7F28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5">
            <a:extLst>
              <a:ext uri="{FF2B5EF4-FFF2-40B4-BE49-F238E27FC236}">
                <a16:creationId xmlns:a16="http://schemas.microsoft.com/office/drawing/2014/main" id="{2F1FB850-C262-7CA2-710E-73634AE1F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870"/>
            <a:ext cx="628377" cy="31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5D9483FF-2F8F-C608-F49F-E71B678F5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77" y="86110"/>
            <a:ext cx="9144000" cy="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722F001B-A83F-136D-9F06-9759414C3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4" descr="$PPTXTitle">
            <a:extLst>
              <a:ext uri="{FF2B5EF4-FFF2-40B4-BE49-F238E27FC236}">
                <a16:creationId xmlns:a16="http://schemas.microsoft.com/office/drawing/2014/main" id="{E67DD429-520C-329A-D142-6DFAC7BA7188}"/>
              </a:ext>
            </a:extLst>
          </p:cNvPr>
          <p:cNvSpPr txBox="1">
            <a:spLocks/>
          </p:cNvSpPr>
          <p:nvPr/>
        </p:nvSpPr>
        <p:spPr>
          <a:xfrm>
            <a:off x="1875099" y="1290071"/>
            <a:ext cx="632460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2400" b="1"/>
              <a:t>Module 4 – AI-Based Text Processing</a:t>
            </a:r>
            <a:endParaRPr lang="en-IN" sz="2400" b="1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01483374-D82A-C704-02CF-D3D867DF6056}"/>
              </a:ext>
            </a:extLst>
          </p:cNvPr>
          <p:cNvSpPr txBox="1"/>
          <p:nvPr/>
        </p:nvSpPr>
        <p:spPr>
          <a:xfrm>
            <a:off x="427299" y="1838801"/>
            <a:ext cx="9601200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/>
              <a:t>Description:</a:t>
            </a:r>
            <a:br>
              <a:rPr lang="en-IN" sz="2000" dirty="0"/>
            </a:br>
            <a:r>
              <a:rPr lang="en-IN" sz="2000" dirty="0"/>
              <a:t>		Cleans and improves the text generated by OCR.</a:t>
            </a:r>
          </a:p>
          <a:p>
            <a:r>
              <a:rPr lang="en-IN" sz="2000" b="1" dirty="0"/>
              <a:t>Function:</a:t>
            </a:r>
            <a:endParaRPr lang="en-IN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Correct common OCR errors.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Clean unnecessary characters.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Format the extracted text.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Organize information into meaningful sections.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 readability and consistency. </a:t>
            </a:r>
          </a:p>
          <a:p>
            <a:r>
              <a:rPr lang="en-IN" sz="2000" b="1" dirty="0"/>
              <a:t>Outcome:</a:t>
            </a:r>
            <a:br>
              <a:rPr lang="en-IN" sz="2000" dirty="0"/>
            </a:br>
            <a:r>
              <a:rPr lang="en-IN" sz="2000" dirty="0"/>
              <a:t>Clean, structured, editable, and searchable digital text.</a:t>
            </a:r>
          </a:p>
        </p:txBody>
      </p:sp>
    </p:spTree>
    <p:extLst>
      <p:ext uri="{BB962C8B-B14F-4D97-AF65-F5344CB8AC3E}">
        <p14:creationId xmlns:p14="http://schemas.microsoft.com/office/powerpoint/2010/main" val="410429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A60E0-6798-AC00-F999-EC3F2A2B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5">
            <a:extLst>
              <a:ext uri="{FF2B5EF4-FFF2-40B4-BE49-F238E27FC236}">
                <a16:creationId xmlns:a16="http://schemas.microsoft.com/office/drawing/2014/main" id="{A64C469A-EC10-35AD-6D97-4D527323A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870"/>
            <a:ext cx="628377" cy="31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DC7FCAA6-22AB-F111-3A2C-5EE7D5FA4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77" y="86110"/>
            <a:ext cx="9144000" cy="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6AF549F0-77DC-3922-7FD3-1F021F8BC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4" descr="$PPTXTitle">
            <a:extLst>
              <a:ext uri="{FF2B5EF4-FFF2-40B4-BE49-F238E27FC236}">
                <a16:creationId xmlns:a16="http://schemas.microsoft.com/office/drawing/2014/main" id="{9D78EE38-1983-C056-FFA7-D1C07D305B2E}"/>
              </a:ext>
            </a:extLst>
          </p:cNvPr>
          <p:cNvSpPr txBox="1">
            <a:spLocks/>
          </p:cNvSpPr>
          <p:nvPr/>
        </p:nvSpPr>
        <p:spPr>
          <a:xfrm>
            <a:off x="1634924" y="1315391"/>
            <a:ext cx="655320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fr-FR" sz="2400" b="1" dirty="0"/>
              <a:t>Module 5 – Output &amp; Document Management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407A2952-3BC5-F761-B7E5-3DAC9313CA9F}"/>
              </a:ext>
            </a:extLst>
          </p:cNvPr>
          <p:cNvSpPr txBox="1"/>
          <p:nvPr/>
        </p:nvSpPr>
        <p:spPr>
          <a:xfrm>
            <a:off x="415724" y="1864121"/>
            <a:ext cx="9601200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/>
              <a:t>Description:</a:t>
            </a:r>
            <a:br>
              <a:rPr lang="en-IN" sz="2000" dirty="0"/>
            </a:br>
            <a:r>
              <a:rPr lang="en-IN" sz="2000" dirty="0"/>
              <a:t>		Manages the final processed document and extracted text.</a:t>
            </a:r>
          </a:p>
          <a:p>
            <a:r>
              <a:rPr lang="en-IN" sz="2000" b="1" dirty="0"/>
              <a:t>Function:</a:t>
            </a:r>
            <a:endParaRPr lang="en-IN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Display extracted text.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Allow users to edit and copy text.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Search within extracted content.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Save processed documents.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Download the final digital document.</a:t>
            </a:r>
          </a:p>
          <a:p>
            <a:r>
              <a:rPr lang="en-IN" sz="2000" b="1" dirty="0"/>
              <a:t>Outcome:</a:t>
            </a:r>
            <a:br>
              <a:rPr lang="en-IN" sz="2000" dirty="0"/>
            </a:br>
            <a:r>
              <a:rPr lang="en-IN" sz="2000" dirty="0"/>
              <a:t>A usable digital document that can be edited, searched, saved, and downloaded.</a:t>
            </a:r>
          </a:p>
        </p:txBody>
      </p:sp>
    </p:spTree>
    <p:extLst>
      <p:ext uri="{BB962C8B-B14F-4D97-AF65-F5344CB8AC3E}">
        <p14:creationId xmlns:p14="http://schemas.microsoft.com/office/powerpoint/2010/main" val="1570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B96E2188-61A2-2A5C-FE18-04958B320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4" descr="$PPTXTitle">
            <a:extLst>
              <a:ext uri="{FF2B5EF4-FFF2-40B4-BE49-F238E27FC236}">
                <a16:creationId xmlns:a16="http://schemas.microsoft.com/office/drawing/2014/main" id="{D1F904BA-7AC9-6E92-32A8-F78E8A315F2A}"/>
              </a:ext>
            </a:extLst>
          </p:cNvPr>
          <p:cNvSpPr txBox="1">
            <a:spLocks/>
          </p:cNvSpPr>
          <p:nvPr/>
        </p:nvSpPr>
        <p:spPr>
          <a:xfrm>
            <a:off x="197734" y="1219201"/>
            <a:ext cx="80772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/>
              <a:t>OCR Text Extraction Algorithm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C81D2A8C-32AA-06CB-4AE4-32D32FEF3014}"/>
              </a:ext>
            </a:extLst>
          </p:cNvPr>
          <p:cNvSpPr txBox="1"/>
          <p:nvPr/>
        </p:nvSpPr>
        <p:spPr>
          <a:xfrm>
            <a:off x="611292" y="1913416"/>
            <a:ext cx="9601200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600" b="1" dirty="0"/>
              <a:t>Purpose:</a:t>
            </a:r>
            <a:r>
              <a:rPr lang="en-IN" sz="1600" dirty="0"/>
              <a:t> Extract digital text from the processed document.</a:t>
            </a:r>
          </a:p>
          <a:p>
            <a:r>
              <a:rPr lang="en-IN" sz="1600" b="1" dirty="0"/>
              <a:t>Steps: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Take the </a:t>
            </a:r>
            <a:r>
              <a:rPr lang="en-IN" sz="1600" dirty="0" err="1"/>
              <a:t>preprocessed</a:t>
            </a:r>
            <a:r>
              <a:rPr lang="en-IN" sz="1600" dirty="0"/>
              <a:t> image.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Detect text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Recognize characters and words.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Convert recognized characters into digital 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Arrange and format the extracted 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Display the final text to the user. </a:t>
            </a:r>
          </a:p>
          <a:p>
            <a:r>
              <a:rPr lang="en-IN" sz="1600" b="1" dirty="0"/>
              <a:t>Input:</a:t>
            </a:r>
            <a:r>
              <a:rPr lang="en-IN" sz="1600" dirty="0"/>
              <a:t> Enhanced Document Image</a:t>
            </a:r>
            <a:br>
              <a:rPr lang="en-IN" sz="1600" dirty="0"/>
            </a:br>
            <a:r>
              <a:rPr lang="en-IN" sz="1600" b="1" dirty="0"/>
              <a:t>Output:</a:t>
            </a:r>
            <a:r>
              <a:rPr lang="en-IN" sz="1600" dirty="0"/>
              <a:t> Digital Text</a:t>
            </a:r>
          </a:p>
          <a:p>
            <a:r>
              <a:rPr lang="en-IN" sz="1600" b="1" dirty="0"/>
              <a:t>Flow:</a:t>
            </a:r>
            <a:br>
              <a:rPr lang="en-IN" sz="1600" dirty="0"/>
            </a:br>
            <a:r>
              <a:rPr lang="en-IN" sz="1600" b="1" dirty="0"/>
              <a:t>Image → Text Detection → Character Recognition → Text Extraction → Digital Text</a:t>
            </a:r>
            <a:endParaRPr lang="en-IN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2360-47A1-E7CA-6728-63BDB135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16AB7BA-2FF4-F756-52D9-31FCD1C697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0"/>
            <a:ext cx="1140047" cy="1007173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E12BE26A-86C6-3BE8-AD03-9600B92BD8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1800" y="1143000"/>
            <a:ext cx="2677738" cy="3161824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32CB3842-9C63-F2FB-15FE-3F09305C1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1650" y="385443"/>
            <a:ext cx="6057900" cy="136431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r>
              <a:rPr lang="en-IN" dirty="0"/>
              <a:t>OCR Text Extraction Algorithm</a:t>
            </a:r>
            <a:endParaRPr lang="en-IN" b="1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CF7A550-E393-6F5F-B4A8-6CFD1797C0CC}"/>
              </a:ext>
            </a:extLst>
          </p:cNvPr>
          <p:cNvSpPr txBox="1"/>
          <p:nvPr/>
        </p:nvSpPr>
        <p:spPr>
          <a:xfrm>
            <a:off x="710219" y="940245"/>
            <a:ext cx="7200900" cy="361060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r>
              <a:rPr lang="en-IN" b="1" dirty="0"/>
              <a:t>Purpose:</a:t>
            </a:r>
            <a:r>
              <a:rPr lang="en-IN" dirty="0"/>
              <a:t> Extract digital text from the processed document.</a:t>
            </a:r>
          </a:p>
          <a:p>
            <a:r>
              <a:rPr lang="en-IN" b="1" dirty="0"/>
              <a:t>Steps:</a:t>
            </a:r>
            <a:endParaRPr lang="en-IN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dirty="0"/>
              <a:t>Take the </a:t>
            </a:r>
            <a:r>
              <a:rPr lang="en-IN" dirty="0" err="1"/>
              <a:t>preprocessed</a:t>
            </a:r>
            <a:r>
              <a:rPr lang="en-IN" dirty="0"/>
              <a:t> image.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dirty="0"/>
              <a:t>Detect text regions.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dirty="0"/>
              <a:t>Recognize characters and words.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dirty="0"/>
              <a:t>Convert recognized characters into digital text.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dirty="0"/>
              <a:t>Arrange and format the extracted text.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dirty="0"/>
              <a:t>Display the final text to the user. </a:t>
            </a:r>
          </a:p>
          <a:p>
            <a:r>
              <a:rPr lang="en-IN" b="1" dirty="0"/>
              <a:t>Input:</a:t>
            </a:r>
            <a:r>
              <a:rPr lang="en-IN" dirty="0"/>
              <a:t> Enhanced Document Image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Digital Text</a:t>
            </a:r>
          </a:p>
          <a:p>
            <a:r>
              <a:rPr lang="en-IN" b="1" dirty="0"/>
              <a:t>Flow:</a:t>
            </a:r>
            <a:br>
              <a:rPr lang="en-IN" dirty="0"/>
            </a:br>
            <a:r>
              <a:rPr lang="en-IN" b="1" dirty="0"/>
              <a:t>Image → Text Detection → Character Recognition → Text Extraction → Digital Text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83504F-5464-AAB5-AB0A-B7AABDDB6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7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IN" alt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376601" y="1245311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A4939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 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08147" y="1816460"/>
            <a:ext cx="8565515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The system converts paper documents into digital text efficiently.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Image preprocessing improves document quality before OCR.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OCR extracts text automatically from document images.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AI-based text processing improves readability and structure.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Users can edit, search, save, and download extracted content.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The modular design makes the system easy to maintain and enhance. </a:t>
            </a:r>
          </a:p>
          <a:p>
            <a:pPr algn="just"/>
            <a:r>
              <a:rPr lang="en-IN" b="1" dirty="0"/>
              <a:t>Future Scope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Support </a:t>
            </a:r>
            <a:r>
              <a:rPr lang="en-IN" b="1" dirty="0"/>
              <a:t>multilingual text recognition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Add </a:t>
            </a:r>
            <a:r>
              <a:rPr lang="en-IN" b="1" dirty="0"/>
              <a:t>handwritten text recognition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Integrate </a:t>
            </a:r>
            <a:r>
              <a:rPr lang="en-IN" b="1" dirty="0"/>
              <a:t>cloud storage</a:t>
            </a:r>
            <a:r>
              <a:rPr lang="en-IN" dirty="0"/>
              <a:t> for document management.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Develop </a:t>
            </a:r>
            <a:r>
              <a:rPr lang="en-IN" b="1" dirty="0"/>
              <a:t>mobile application support</a:t>
            </a:r>
            <a:r>
              <a:rPr lang="en-IN" dirty="0"/>
              <a:t>.</a:t>
            </a: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BF702B9D-F43D-1DEF-B82C-61273DBC1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470" y="1168217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sz="2400" b="1" dirty="0"/>
              <a:t>Results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445770" y="1994194"/>
            <a:ext cx="824103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400" dirty="0"/>
              <a:t>Complete workflow connects image input, preprocessing, OCR, and text output.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400" dirty="0"/>
              <a:t>Preprocessing improves document image quality.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400" dirty="0"/>
              <a:t>OCR converts processed images into editable digital text.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400" dirty="0"/>
              <a:t>Users can review, edit, search, copy, save, and download content.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400" dirty="0"/>
              <a:t>Prototype demonstrates automated document digitization.</a:t>
            </a:r>
          </a:p>
        </p:txBody>
      </p:sp>
      <p:pic>
        <p:nvPicPr>
          <p:cNvPr id="8" name="Picture 2" descr="SSE-Computer Science and Engineering">
            <a:extLst>
              <a:ext uri="{FF2B5EF4-FFF2-40B4-BE49-F238E27FC236}">
                <a16:creationId xmlns:a16="http://schemas.microsoft.com/office/drawing/2014/main" id="{E70122E2-88A3-22CD-D858-25E0BBFDF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0"/>
            <a:ext cx="9003324" cy="121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10080" y="1771015"/>
            <a:ext cx="5605780" cy="1312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IN" altLang="en-US" sz="8000" b="1" dirty="0">
                <a:solidFill>
                  <a:srgbClr val="A4939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820</Words>
  <Application>Microsoft Office PowerPoint</Application>
  <PresentationFormat>On-screen Show (16:9)</PresentationFormat>
  <Paragraphs>129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ui-monospace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OCR Text Extraction Algorithm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Handling In Syntax Analysis For User-Friendly Language Debuggers</dc:title>
  <dc:subject>Error Handling In Syntax Analysis For User-Friendly Language Debuggers</dc:subject>
  <dc:creator>SlideMake.com</dc:creator>
  <cp:lastModifiedBy>DIVA KARAN P</cp:lastModifiedBy>
  <cp:revision>33</cp:revision>
  <dcterms:created xsi:type="dcterms:W3CDTF">2025-08-20T15:19:00Z</dcterms:created>
  <dcterms:modified xsi:type="dcterms:W3CDTF">2026-09-03T05:04:00Z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5927F34AB5A844DCBE866656C6274B53_12</vt:lpwstr>
  </property>
  <property fmtid="{D5CDD505-2E9C-101B-9397-08002B2CF9AE}" pid="3" name="KSOProductBuildVer">
    <vt:lpwstr>1033-12.2.0.22222</vt:lpwstr>
  </property>
</Properties>
</file>