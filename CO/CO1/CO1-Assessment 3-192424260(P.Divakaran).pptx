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61" r:id="rId2"/>
    <p:sldId id="256" r:id="rId3"/>
    <p:sldId id="257" r:id="rId4"/>
    <p:sldId id="258"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8F527D-3850-44D4-998D-5E6222D62C94}"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30D4136-A1CB-4A1C-9DA1-283A0C6CE556}" type="slidenum">
              <a:rPr lang="en-IN" smtClean="0"/>
              <a:t>‹#›</a:t>
            </a:fld>
            <a:endParaRPr lang="en-IN"/>
          </a:p>
        </p:txBody>
      </p:sp>
    </p:spTree>
    <p:extLst>
      <p:ext uri="{BB962C8B-B14F-4D97-AF65-F5344CB8AC3E}">
        <p14:creationId xmlns:p14="http://schemas.microsoft.com/office/powerpoint/2010/main" val="700414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8F527D-3850-44D4-998D-5E6222D62C94}"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42490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4B8F527D-3850-44D4-998D-5E6222D62C94}" type="datetimeFigureOut">
              <a:rPr lang="en-IN" smtClean="0"/>
              <a:t>16-07-2026</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30D4136-A1CB-4A1C-9DA1-283A0C6CE556}" type="slidenum">
              <a:rPr lang="en-IN" smtClean="0"/>
              <a:t>‹#›</a:t>
            </a:fld>
            <a:endParaRPr lang="en-IN"/>
          </a:p>
        </p:txBody>
      </p:sp>
    </p:spTree>
    <p:extLst>
      <p:ext uri="{BB962C8B-B14F-4D97-AF65-F5344CB8AC3E}">
        <p14:creationId xmlns:p14="http://schemas.microsoft.com/office/powerpoint/2010/main" val="1489430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8F527D-3850-44D4-998D-5E6222D62C94}"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3910472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8F527D-3850-44D4-998D-5E6222D62C94}" type="datetimeFigureOut">
              <a:rPr lang="en-IN" smtClean="0"/>
              <a:t>16-07-2026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3589452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8F527D-3850-44D4-998D-5E6222D62C94}" type="datetimeFigureOut">
              <a:rPr lang="en-IN" smtClean="0"/>
              <a:t>16-07-2026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942962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8F527D-3850-44D4-998D-5E6222D62C94}" type="datetimeFigureOut">
              <a:rPr lang="en-IN" smtClean="0"/>
              <a:t>16-07-2026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3420767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8F527D-3850-44D4-998D-5E6222D62C94}"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IN"/>
            </a:p>
          </p:txBody>
        </p:sp>
      </p:grpSp>
      <p:sp>
        <p:nvSpPr>
          <p:cNvPr id="7" name="Slide Number Placeholder 6"/>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1776647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8F527D-3850-44D4-998D-5E6222D62C94}" type="datetimeFigureOut">
              <a:rPr lang="en-IN" smtClean="0"/>
              <a:t>16-07-2026</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IN"/>
            </a:p>
          </p:txBody>
        </p:sp>
      </p:grpSp>
      <p:sp>
        <p:nvSpPr>
          <p:cNvPr id="7" name="Slide Number Placeholder 6"/>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2068642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8F527D-3850-44D4-998D-5E6222D62C94}"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1691815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8F527D-3850-44D4-998D-5E6222D62C94}"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0D4136-A1CB-4A1C-9DA1-283A0C6CE556}" type="slidenum">
              <a:rPr lang="en-IN" smtClean="0"/>
              <a:t>‹#›</a:t>
            </a:fld>
            <a:endParaRPr lang="en-IN"/>
          </a:p>
        </p:txBody>
      </p:sp>
    </p:spTree>
    <p:extLst>
      <p:ext uri="{BB962C8B-B14F-4D97-AF65-F5344CB8AC3E}">
        <p14:creationId xmlns:p14="http://schemas.microsoft.com/office/powerpoint/2010/main" val="2822174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4B8F527D-3850-44D4-998D-5E6222D62C94}" type="datetimeFigureOut">
              <a:rPr lang="en-IN" smtClean="0"/>
              <a:t>16-07-2026</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30D4136-A1CB-4A1C-9DA1-283A0C6CE556}" type="slidenum">
              <a:rPr lang="en-IN" smtClean="0"/>
              <a:t>‹#›</a:t>
            </a:fld>
            <a:endParaRPr lang="en-IN"/>
          </a:p>
        </p:txBody>
      </p:sp>
    </p:spTree>
    <p:extLst>
      <p:ext uri="{BB962C8B-B14F-4D97-AF65-F5344CB8AC3E}">
        <p14:creationId xmlns:p14="http://schemas.microsoft.com/office/powerpoint/2010/main" val="214967247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690E54-EF90-9A71-6C2C-3AEFCD99920C}"/>
              </a:ext>
            </a:extLst>
          </p:cNvPr>
          <p:cNvSpPr/>
          <p:nvPr/>
        </p:nvSpPr>
        <p:spPr>
          <a:xfrm>
            <a:off x="7853289" y="3916680"/>
            <a:ext cx="3500511" cy="224496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effectLst>
                  <a:outerShdw blurRad="38100" dist="38100" dir="2700000" algn="tl">
                    <a:srgbClr val="000000">
                      <a:alpha val="43137"/>
                    </a:srgbClr>
                  </a:outerShdw>
                </a:effectLst>
              </a:rPr>
              <a:t>Presented By</a:t>
            </a:r>
          </a:p>
          <a:p>
            <a:pPr algn="ctr"/>
            <a:r>
              <a:rPr lang="en-IN" sz="2000" b="1" dirty="0">
                <a:solidFill>
                  <a:schemeClr val="tx1"/>
                </a:solidFill>
                <a:effectLst>
                  <a:outerShdw blurRad="38100" dist="38100" dir="2700000" algn="tl">
                    <a:srgbClr val="000000">
                      <a:alpha val="43137"/>
                    </a:srgbClr>
                  </a:outerShdw>
                </a:effectLst>
              </a:rPr>
              <a:t>P.Divakaran(192424260)</a:t>
            </a:r>
          </a:p>
          <a:p>
            <a:pPr algn="ctr"/>
            <a:r>
              <a:rPr lang="en-IN" sz="2000" b="1" dirty="0">
                <a:solidFill>
                  <a:schemeClr val="tx1"/>
                </a:solidFill>
                <a:effectLst>
                  <a:outerShdw blurRad="38100" dist="38100" dir="2700000" algn="tl">
                    <a:srgbClr val="000000">
                      <a:alpha val="43137"/>
                    </a:srgbClr>
                  </a:outerShdw>
                </a:effectLst>
              </a:rPr>
              <a:t>DSA0202-Comuter Vision</a:t>
            </a:r>
          </a:p>
          <a:p>
            <a:pPr algn="ctr"/>
            <a:r>
              <a:rPr lang="en-IN" sz="2000" b="1" dirty="0">
                <a:solidFill>
                  <a:schemeClr val="tx1"/>
                </a:solidFill>
                <a:effectLst>
                  <a:outerShdw blurRad="38100" dist="38100" dir="2700000" algn="tl">
                    <a:srgbClr val="000000">
                      <a:alpha val="43137"/>
                    </a:srgbClr>
                  </a:outerShdw>
                </a:effectLst>
              </a:rPr>
              <a:t>Guided By </a:t>
            </a:r>
          </a:p>
          <a:p>
            <a:pPr algn="ctr"/>
            <a:r>
              <a:rPr lang="en-IN" sz="2000" b="1" dirty="0">
                <a:solidFill>
                  <a:schemeClr val="tx1"/>
                </a:solidFill>
                <a:effectLst>
                  <a:outerShdw blurRad="38100" dist="38100" dir="2700000" algn="tl">
                    <a:srgbClr val="000000">
                      <a:alpha val="43137"/>
                    </a:srgbClr>
                  </a:outerShdw>
                </a:effectLst>
              </a:rPr>
              <a:t>Dr.MAYURANATHAN M</a:t>
            </a:r>
          </a:p>
        </p:txBody>
      </p:sp>
      <p:sp>
        <p:nvSpPr>
          <p:cNvPr id="5" name="Rectangle: Rounded Corners 4">
            <a:extLst>
              <a:ext uri="{FF2B5EF4-FFF2-40B4-BE49-F238E27FC236}">
                <a16:creationId xmlns:a16="http://schemas.microsoft.com/office/drawing/2014/main" id="{E968FAF7-7CFF-F555-8C11-69AA3B634D55}"/>
              </a:ext>
            </a:extLst>
          </p:cNvPr>
          <p:cNvSpPr/>
          <p:nvPr/>
        </p:nvSpPr>
        <p:spPr>
          <a:xfrm>
            <a:off x="1403045" y="1075867"/>
            <a:ext cx="8785184" cy="1088020"/>
          </a:xfrm>
          <a:prstGeom prst="roundRect">
            <a:avLst/>
          </a:prstGeom>
          <a:solidFill>
            <a:schemeClr val="bg1"/>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Scenario 4: AR Mobile App Overlays Virtual Objects on Real Scenes</a:t>
            </a:r>
            <a:endParaRPr lang="en-IN" sz="2400" dirty="0">
              <a:solidFill>
                <a:schemeClr val="tx1"/>
              </a:solidFill>
            </a:endParaRPr>
          </a:p>
        </p:txBody>
      </p:sp>
    </p:spTree>
    <p:extLst>
      <p:ext uri="{BB962C8B-B14F-4D97-AF65-F5344CB8AC3E}">
        <p14:creationId xmlns:p14="http://schemas.microsoft.com/office/powerpoint/2010/main" val="3524467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30F56E4-253E-D577-3D03-0DA33BE12D97}"/>
              </a:ext>
            </a:extLst>
          </p:cNvPr>
          <p:cNvSpPr/>
          <p:nvPr/>
        </p:nvSpPr>
        <p:spPr>
          <a:xfrm>
            <a:off x="1296365" y="115747"/>
            <a:ext cx="8785184" cy="1088020"/>
          </a:xfrm>
          <a:prstGeom prst="roundRect">
            <a:avLst/>
          </a:prstGeom>
          <a:solidFill>
            <a:schemeClr val="bg1"/>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AR Mobile App Overlays Virtual Objects on Real Scenes</a:t>
            </a:r>
            <a:endParaRPr lang="en-IN" sz="2400" dirty="0">
              <a:solidFill>
                <a:schemeClr val="tx1"/>
              </a:solidFill>
            </a:endParaRPr>
          </a:p>
        </p:txBody>
      </p:sp>
      <p:sp>
        <p:nvSpPr>
          <p:cNvPr id="5" name="Rectangle: Rounded Corners 4">
            <a:extLst>
              <a:ext uri="{FF2B5EF4-FFF2-40B4-BE49-F238E27FC236}">
                <a16:creationId xmlns:a16="http://schemas.microsoft.com/office/drawing/2014/main" id="{122E7C32-2B9F-39EC-273F-BBFEC6821BB9}"/>
              </a:ext>
            </a:extLst>
          </p:cNvPr>
          <p:cNvSpPr/>
          <p:nvPr/>
        </p:nvSpPr>
        <p:spPr>
          <a:xfrm>
            <a:off x="720975" y="1539433"/>
            <a:ext cx="7118431" cy="484400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AR Mobile</a:t>
            </a:r>
            <a:r>
              <a:rPr lang="en-US" dirty="0">
                <a:solidFill>
                  <a:schemeClr val="tx1"/>
                </a:solidFill>
              </a:rPr>
              <a:t> stands for </a:t>
            </a:r>
            <a:r>
              <a:rPr lang="en-US" b="1" dirty="0">
                <a:solidFill>
                  <a:schemeClr val="tx1"/>
                </a:solidFill>
              </a:rPr>
              <a:t>Augmented Reality Mobile</a:t>
            </a:r>
            <a:r>
              <a:rPr lang="en-US" dirty="0">
                <a:solidFill>
                  <a:schemeClr val="tx1"/>
                </a:solidFill>
              </a:rPr>
              <a:t>.</a:t>
            </a:r>
          </a:p>
          <a:p>
            <a:endParaRPr lang="en-US" dirty="0">
              <a:solidFill>
                <a:schemeClr val="tx1"/>
              </a:solidFill>
            </a:endParaRPr>
          </a:p>
          <a:p>
            <a:pPr algn="just"/>
            <a:r>
              <a:rPr lang="en-US" dirty="0">
                <a:solidFill>
                  <a:schemeClr val="tx1"/>
                </a:solidFill>
              </a:rPr>
              <a:t>It is a </a:t>
            </a:r>
            <a:r>
              <a:rPr lang="en-US" b="1" dirty="0">
                <a:solidFill>
                  <a:schemeClr val="tx1"/>
                </a:solidFill>
              </a:rPr>
              <a:t>mobile application that uses the smartphone's camera to combine real-world views with virtual (digital) objects in real time.</a:t>
            </a:r>
            <a:endParaRPr lang="en-US" dirty="0">
              <a:solidFill>
                <a:schemeClr val="tx1"/>
              </a:solidFill>
            </a:endParaRPr>
          </a:p>
          <a:p>
            <a:pPr algn="just"/>
            <a:r>
              <a:rPr lang="en-US" b="1" dirty="0">
                <a:solidFill>
                  <a:schemeClr val="tx1"/>
                </a:solidFill>
              </a:rPr>
              <a:t>Simple Definition</a:t>
            </a:r>
          </a:p>
          <a:p>
            <a:pPr algn="just"/>
            <a:r>
              <a:rPr lang="en-US" b="1" dirty="0">
                <a:solidFill>
                  <a:schemeClr val="tx1"/>
                </a:solidFill>
              </a:rPr>
              <a:t>AR Mobile = Real World + Virtual Objects (using a smartphone camera).</a:t>
            </a:r>
          </a:p>
          <a:p>
            <a:endParaRPr lang="en-US" b="1" dirty="0">
              <a:solidFill>
                <a:schemeClr val="tx1"/>
              </a:solidFill>
            </a:endParaRPr>
          </a:p>
          <a:p>
            <a:endParaRPr lang="en-US" b="1" dirty="0">
              <a:solidFill>
                <a:schemeClr val="tx1"/>
              </a:solidFill>
            </a:endParaRPr>
          </a:p>
          <a:p>
            <a:r>
              <a:rPr lang="en-US" b="1" dirty="0">
                <a:solidFill>
                  <a:schemeClr val="tx1"/>
                </a:solidFill>
              </a:rPr>
              <a:t>Examples</a:t>
            </a:r>
          </a:p>
          <a:p>
            <a:pPr marL="285750" indent="-285750">
              <a:buFont typeface="Arial" panose="020B0604020202020204" pitchFamily="34" charset="0"/>
              <a:buChar char="•"/>
            </a:pPr>
            <a:r>
              <a:rPr lang="en-US" dirty="0">
                <a:solidFill>
                  <a:schemeClr val="tx1"/>
                </a:solidFill>
              </a:rPr>
              <a:t>👓 </a:t>
            </a:r>
            <a:r>
              <a:rPr lang="en-US" b="1" dirty="0">
                <a:solidFill>
                  <a:schemeClr val="tx1"/>
                </a:solidFill>
              </a:rPr>
              <a:t>Snapchat/Instagram Filters</a:t>
            </a:r>
            <a:r>
              <a:rPr lang="en-US" dirty="0">
                <a:solidFill>
                  <a:schemeClr val="tx1"/>
                </a:solidFill>
              </a:rPr>
              <a:t> – Adds virtual glasses, hats, or masks to your face. </a:t>
            </a:r>
          </a:p>
          <a:p>
            <a:pPr marL="285750" indent="-285750">
              <a:buFont typeface="Arial" panose="020B0604020202020204" pitchFamily="34" charset="0"/>
              <a:buChar char="•"/>
            </a:pPr>
            <a:r>
              <a:rPr lang="en-US" dirty="0">
                <a:solidFill>
                  <a:schemeClr val="tx1"/>
                </a:solidFill>
              </a:rPr>
              <a:t>🎮 </a:t>
            </a:r>
            <a:r>
              <a:rPr lang="en-US" b="1" dirty="0">
                <a:solidFill>
                  <a:schemeClr val="tx1"/>
                </a:solidFill>
              </a:rPr>
              <a:t>Pokémon GO</a:t>
            </a:r>
            <a:r>
              <a:rPr lang="en-US" dirty="0">
                <a:solidFill>
                  <a:schemeClr val="tx1"/>
                </a:solidFill>
              </a:rPr>
              <a:t> – Places Pokémon in your real surroundings.</a:t>
            </a:r>
          </a:p>
          <a:p>
            <a:endParaRPr lang="en-US" dirty="0">
              <a:solidFill>
                <a:schemeClr val="tx1"/>
              </a:solidFill>
            </a:endParaRPr>
          </a:p>
          <a:p>
            <a:pPr algn="ctr"/>
            <a:endParaRPr lang="en-IN" dirty="0">
              <a:solidFill>
                <a:schemeClr val="tx1"/>
              </a:solidFill>
            </a:endParaRPr>
          </a:p>
        </p:txBody>
      </p:sp>
      <p:sp>
        <p:nvSpPr>
          <p:cNvPr id="6" name="Oval 5">
            <a:extLst>
              <a:ext uri="{FF2B5EF4-FFF2-40B4-BE49-F238E27FC236}">
                <a16:creationId xmlns:a16="http://schemas.microsoft.com/office/drawing/2014/main" id="{7603973C-8766-DD94-80F9-AE72E5D81448}"/>
              </a:ext>
            </a:extLst>
          </p:cNvPr>
          <p:cNvSpPr/>
          <p:nvPr/>
        </p:nvSpPr>
        <p:spPr>
          <a:xfrm>
            <a:off x="8559478" y="1539433"/>
            <a:ext cx="3044142" cy="484400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Mobile Camera</a:t>
            </a:r>
          </a:p>
          <a:p>
            <a:pPr algn="ctr"/>
            <a:r>
              <a:rPr lang="en-IN" dirty="0">
                <a:solidFill>
                  <a:schemeClr val="tx1"/>
                </a:solidFill>
              </a:rPr>
              <a:t>       ↓</a:t>
            </a:r>
          </a:p>
          <a:p>
            <a:pPr algn="ctr"/>
            <a:r>
              <a:rPr lang="en-IN" dirty="0">
                <a:solidFill>
                  <a:schemeClr val="tx1"/>
                </a:solidFill>
              </a:rPr>
              <a:t>Detects Real World</a:t>
            </a:r>
          </a:p>
          <a:p>
            <a:pPr algn="ctr"/>
            <a:r>
              <a:rPr lang="en-IN" dirty="0">
                <a:solidFill>
                  <a:schemeClr val="tx1"/>
                </a:solidFill>
              </a:rPr>
              <a:t>       ↓</a:t>
            </a:r>
          </a:p>
          <a:p>
            <a:pPr algn="ctr"/>
            <a:r>
              <a:rPr lang="en-IN" dirty="0">
                <a:solidFill>
                  <a:schemeClr val="tx1"/>
                </a:solidFill>
              </a:rPr>
              <a:t>Computer Vision</a:t>
            </a:r>
          </a:p>
          <a:p>
            <a:pPr algn="ctr"/>
            <a:r>
              <a:rPr lang="en-IN" dirty="0">
                <a:solidFill>
                  <a:schemeClr val="tx1"/>
                </a:solidFill>
              </a:rPr>
              <a:t>       ↓</a:t>
            </a:r>
          </a:p>
          <a:p>
            <a:pPr algn="ctr"/>
            <a:r>
              <a:rPr lang="en-IN" dirty="0">
                <a:solidFill>
                  <a:schemeClr val="tx1"/>
                </a:solidFill>
              </a:rPr>
              <a:t>Computer Graphics</a:t>
            </a:r>
          </a:p>
          <a:p>
            <a:pPr algn="ctr"/>
            <a:r>
              <a:rPr lang="en-IN" dirty="0">
                <a:solidFill>
                  <a:schemeClr val="tx1"/>
                </a:solidFill>
              </a:rPr>
              <a:t>       ↓</a:t>
            </a:r>
          </a:p>
          <a:p>
            <a:pPr algn="ctr"/>
            <a:r>
              <a:rPr lang="en-IN" dirty="0">
                <a:solidFill>
                  <a:schemeClr val="tx1"/>
                </a:solidFill>
              </a:rPr>
              <a:t>📱 AR Display</a:t>
            </a:r>
          </a:p>
          <a:p>
            <a:pPr algn="ctr"/>
            <a:r>
              <a:rPr lang="en-IN" dirty="0">
                <a:solidFill>
                  <a:schemeClr val="tx1"/>
                </a:solidFill>
              </a:rPr>
              <a:t>(Real Scene + Virtual Object)</a:t>
            </a:r>
          </a:p>
        </p:txBody>
      </p:sp>
    </p:spTree>
    <p:extLst>
      <p:ext uri="{BB962C8B-B14F-4D97-AF65-F5344CB8AC3E}">
        <p14:creationId xmlns:p14="http://schemas.microsoft.com/office/powerpoint/2010/main" val="356524719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grpId="0" nodeType="afterEffect">
                                  <p:stCondLst>
                                    <p:cond delay="0"/>
                                  </p:stCondLst>
                                  <p:iterate type="lt">
                                    <p:tmPct val="10000"/>
                                  </p:iterate>
                                  <p:childTnLst>
                                    <p:animMotion origin="layout" path="M 0.0 0.0 L 0.0 -0.07213" pathEditMode="relative" ptsTypes="">
                                      <p:cBhvr>
                                        <p:cTn id="6" dur="5" accel="50000" decel="50000" autoRev="1" fill="hold">
                                          <p:stCondLst>
                                            <p:cond delay="0"/>
                                          </p:stCondLst>
                                        </p:cTn>
                                        <p:tgtEl>
                                          <p:spTgt spid="6"/>
                                        </p:tgtEl>
                                        <p:attrNameLst>
                                          <p:attrName>ppt_x</p:attrName>
                                          <p:attrName>ppt_y</p:attrName>
                                        </p:attrNameLst>
                                      </p:cBhvr>
                                    </p:animMotion>
                                    <p:animRot by="1500000">
                                      <p:cBhvr>
                                        <p:cTn id="7" dur="2" fill="hold">
                                          <p:stCondLst>
                                            <p:cond delay="0"/>
                                          </p:stCondLst>
                                        </p:cTn>
                                        <p:tgtEl>
                                          <p:spTgt spid="6"/>
                                        </p:tgtEl>
                                        <p:attrNameLst>
                                          <p:attrName>r</p:attrName>
                                        </p:attrNameLst>
                                      </p:cBhvr>
                                    </p:animRot>
                                    <p:animRot by="-1500000">
                                      <p:cBhvr>
                                        <p:cTn id="8" dur="2" fill="hold">
                                          <p:stCondLst>
                                            <p:cond delay="2"/>
                                          </p:stCondLst>
                                        </p:cTn>
                                        <p:tgtEl>
                                          <p:spTgt spid="6"/>
                                        </p:tgtEl>
                                        <p:attrNameLst>
                                          <p:attrName>r</p:attrName>
                                        </p:attrNameLst>
                                      </p:cBhvr>
                                    </p:animRot>
                                    <p:animRot by="-1500000">
                                      <p:cBhvr>
                                        <p:cTn id="9" dur="2" fill="hold">
                                          <p:stCondLst>
                                            <p:cond delay="5"/>
                                          </p:stCondLst>
                                        </p:cTn>
                                        <p:tgtEl>
                                          <p:spTgt spid="6"/>
                                        </p:tgtEl>
                                        <p:attrNameLst>
                                          <p:attrName>r</p:attrName>
                                        </p:attrNameLst>
                                      </p:cBhvr>
                                    </p:animRot>
                                    <p:animRot by="1500000">
                                      <p:cBhvr>
                                        <p:cTn id="10" dur="2" fill="hold">
                                          <p:stCondLst>
                                            <p:cond delay="7"/>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37B89C9-B434-8CC4-8906-DC963FFC533D}"/>
              </a:ext>
            </a:extLst>
          </p:cNvPr>
          <p:cNvSpPr/>
          <p:nvPr/>
        </p:nvSpPr>
        <p:spPr>
          <a:xfrm>
            <a:off x="277406" y="1041722"/>
            <a:ext cx="6204416" cy="36857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Virtual Objects</a:t>
            </a:r>
            <a:r>
              <a:rPr lang="en-IN" dirty="0">
                <a:solidFill>
                  <a:schemeClr val="tx1"/>
                </a:solidFill>
              </a:rPr>
              <a:t> </a:t>
            </a:r>
          </a:p>
          <a:p>
            <a:endParaRPr lang="en-US" b="1" dirty="0">
              <a:solidFill>
                <a:schemeClr val="tx1"/>
              </a:solidFill>
            </a:endParaRPr>
          </a:p>
          <a:p>
            <a:r>
              <a:rPr lang="en-US" b="1" dirty="0">
                <a:solidFill>
                  <a:schemeClr val="tx1"/>
                </a:solidFill>
              </a:rPr>
              <a:t>Virtual Objects</a:t>
            </a:r>
            <a:r>
              <a:rPr lang="en-US" dirty="0">
                <a:solidFill>
                  <a:schemeClr val="tx1"/>
                </a:solidFill>
              </a:rPr>
              <a:t> are </a:t>
            </a:r>
            <a:r>
              <a:rPr lang="en-US" b="1" dirty="0">
                <a:solidFill>
                  <a:schemeClr val="tx1"/>
                </a:solidFill>
              </a:rPr>
              <a:t>computer-generated (digital) objects</a:t>
            </a:r>
            <a:r>
              <a:rPr lang="en-US" dirty="0">
                <a:solidFill>
                  <a:schemeClr val="tx1"/>
                </a:solidFill>
              </a:rPr>
              <a:t> that do not physically exist but appear on a screen or in an AR/VR environment.</a:t>
            </a:r>
          </a:p>
          <a:p>
            <a:r>
              <a:rPr lang="en-US" b="1" dirty="0">
                <a:solidFill>
                  <a:schemeClr val="tx1"/>
                </a:solidFill>
              </a:rPr>
              <a:t>Simple Definition</a:t>
            </a:r>
          </a:p>
          <a:p>
            <a:r>
              <a:rPr lang="en-US" b="1" dirty="0">
                <a:solidFill>
                  <a:schemeClr val="tx1"/>
                </a:solidFill>
              </a:rPr>
              <a:t>Virtual objects are digital 2D or 3D objects created by a computer and displayed on a real-world scene or in a virtual environment.</a:t>
            </a:r>
            <a:endParaRPr lang="en-US" dirty="0">
              <a:solidFill>
                <a:schemeClr val="tx1"/>
              </a:solidFill>
            </a:endParaRPr>
          </a:p>
          <a:p>
            <a:r>
              <a:rPr lang="en-US" b="1" dirty="0">
                <a:solidFill>
                  <a:schemeClr val="tx1"/>
                </a:solidFill>
              </a:rPr>
              <a:t>Examples</a:t>
            </a:r>
          </a:p>
          <a:p>
            <a:r>
              <a:rPr lang="en-US" dirty="0">
                <a:solidFill>
                  <a:schemeClr val="tx1"/>
                </a:solidFill>
              </a:rPr>
              <a:t>👓 Virtual glasses on your face (Snapchat filter) </a:t>
            </a:r>
          </a:p>
          <a:p>
            <a:r>
              <a:rPr lang="en-US" dirty="0">
                <a:solidFill>
                  <a:schemeClr val="tx1"/>
                </a:solidFill>
              </a:rPr>
              <a:t>🪑 A virtual chair placed in your room (IKEA Place)</a:t>
            </a:r>
          </a:p>
        </p:txBody>
      </p:sp>
      <p:pic>
        <p:nvPicPr>
          <p:cNvPr id="5" name="Picture 4" descr="Your body can panic before your brain even processes what's real. That's  the power of immersive VR. It doesn't need an actual threat to trigger  fear—once the experience feels real enough, your">
            <a:extLst>
              <a:ext uri="{FF2B5EF4-FFF2-40B4-BE49-F238E27FC236}">
                <a16:creationId xmlns:a16="http://schemas.microsoft.com/office/drawing/2014/main" id="{21A66871-77F9-5727-0D38-79E2700BBCE2}"/>
              </a:ext>
            </a:extLst>
          </p:cNvPr>
          <p:cNvPicPr>
            <a:picLocks noChangeAspect="1"/>
          </p:cNvPicPr>
          <p:nvPr/>
        </p:nvPicPr>
        <p:blipFill>
          <a:blip r:embed="rId2"/>
          <a:stretch>
            <a:fillRect/>
          </a:stretch>
        </p:blipFill>
        <p:spPr>
          <a:xfrm>
            <a:off x="7326775" y="0"/>
            <a:ext cx="4865225" cy="6858000"/>
          </a:xfrm>
          <a:prstGeom prst="rect">
            <a:avLst/>
          </a:prstGeom>
        </p:spPr>
      </p:pic>
    </p:spTree>
    <p:extLst>
      <p:ext uri="{BB962C8B-B14F-4D97-AF65-F5344CB8AC3E}">
        <p14:creationId xmlns:p14="http://schemas.microsoft.com/office/powerpoint/2010/main" val="862383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8B82A9-7517-CB10-E046-676A4FD81F0A}"/>
              </a:ext>
            </a:extLst>
          </p:cNvPr>
          <p:cNvSpPr/>
          <p:nvPr/>
        </p:nvSpPr>
        <p:spPr>
          <a:xfrm>
            <a:off x="1762760" y="391160"/>
            <a:ext cx="8066590" cy="1005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Scenario 4: AR Mobile App Overlays Virtual Objects on Real Scenes</a:t>
            </a:r>
          </a:p>
          <a:p>
            <a:r>
              <a:rPr lang="en-US" b="1" dirty="0">
                <a:solidFill>
                  <a:schemeClr val="tx1"/>
                </a:solidFill>
              </a:rPr>
              <a:t>A. Difference between Computer Graphics and Computer Vision</a:t>
            </a:r>
          </a:p>
        </p:txBody>
      </p:sp>
      <p:graphicFrame>
        <p:nvGraphicFramePr>
          <p:cNvPr id="5" name="Table 4">
            <a:extLst>
              <a:ext uri="{FF2B5EF4-FFF2-40B4-BE49-F238E27FC236}">
                <a16:creationId xmlns:a16="http://schemas.microsoft.com/office/drawing/2014/main" id="{8E7477E5-96D2-0F3D-48AB-DFC1638EFF9E}"/>
              </a:ext>
            </a:extLst>
          </p:cNvPr>
          <p:cNvGraphicFramePr>
            <a:graphicFrameLocks noGrp="1"/>
          </p:cNvGraphicFramePr>
          <p:nvPr>
            <p:extLst>
              <p:ext uri="{D42A27DB-BD31-4B8C-83A1-F6EECF244321}">
                <p14:modId xmlns:p14="http://schemas.microsoft.com/office/powerpoint/2010/main" val="333008630"/>
              </p:ext>
            </p:extLst>
          </p:nvPr>
        </p:nvGraphicFramePr>
        <p:xfrm>
          <a:off x="838200" y="2286000"/>
          <a:ext cx="10515600" cy="2446816"/>
        </p:xfrm>
        <a:graphic>
          <a:graphicData uri="http://schemas.openxmlformats.org/drawingml/2006/table">
            <a:tbl>
              <a:tblPr>
                <a:tableStyleId>{8A107856-5554-42FB-B03E-39F5DBC370BA}</a:tableStyleId>
              </a:tblPr>
              <a:tblGrid>
                <a:gridCol w="5257800">
                  <a:extLst>
                    <a:ext uri="{9D8B030D-6E8A-4147-A177-3AD203B41FA5}">
                      <a16:colId xmlns:a16="http://schemas.microsoft.com/office/drawing/2014/main" val="704460506"/>
                    </a:ext>
                  </a:extLst>
                </a:gridCol>
                <a:gridCol w="5257800">
                  <a:extLst>
                    <a:ext uri="{9D8B030D-6E8A-4147-A177-3AD203B41FA5}">
                      <a16:colId xmlns:a16="http://schemas.microsoft.com/office/drawing/2014/main" val="2650603375"/>
                    </a:ext>
                  </a:extLst>
                </a:gridCol>
              </a:tblGrid>
              <a:tr h="611704">
                <a:tc>
                  <a:txBody>
                    <a:bodyPr/>
                    <a:lstStyle/>
                    <a:p>
                      <a:pPr>
                        <a:buNone/>
                      </a:pPr>
                      <a:r>
                        <a:rPr lang="en-IN" b="1" dirty="0"/>
                        <a:t>Computer Graphics</a:t>
                      </a:r>
                      <a:endParaRPr lang="en-IN" dirty="0"/>
                    </a:p>
                  </a:txBody>
                  <a:tcPr anchor="ctr"/>
                </a:tc>
                <a:tc>
                  <a:txBody>
                    <a:bodyPr/>
                    <a:lstStyle/>
                    <a:p>
                      <a:pPr>
                        <a:buNone/>
                      </a:pPr>
                      <a:r>
                        <a:rPr lang="en-IN" b="1"/>
                        <a:t>Computer Vision</a:t>
                      </a:r>
                      <a:endParaRPr lang="en-IN"/>
                    </a:p>
                  </a:txBody>
                  <a:tcPr anchor="ctr"/>
                </a:tc>
                <a:extLst>
                  <a:ext uri="{0D108BD9-81ED-4DB2-BD59-A6C34878D82A}">
                    <a16:rowId xmlns:a16="http://schemas.microsoft.com/office/drawing/2014/main" val="1138824875"/>
                  </a:ext>
                </a:extLst>
              </a:tr>
              <a:tr h="611704">
                <a:tc>
                  <a:txBody>
                    <a:bodyPr/>
                    <a:lstStyle/>
                    <a:p>
                      <a:pPr>
                        <a:buNone/>
                      </a:pPr>
                      <a:r>
                        <a:rPr lang="en-US"/>
                        <a:t>Creates virtual objects and 3D models.</a:t>
                      </a:r>
                    </a:p>
                  </a:txBody>
                  <a:tcPr anchor="ctr"/>
                </a:tc>
                <a:tc>
                  <a:txBody>
                    <a:bodyPr/>
                    <a:lstStyle/>
                    <a:p>
                      <a:pPr>
                        <a:buNone/>
                      </a:pPr>
                      <a:r>
                        <a:rPr lang="en-US"/>
                        <a:t>Understands and analyzes real-world images.</a:t>
                      </a:r>
                    </a:p>
                  </a:txBody>
                  <a:tcPr anchor="ctr"/>
                </a:tc>
                <a:extLst>
                  <a:ext uri="{0D108BD9-81ED-4DB2-BD59-A6C34878D82A}">
                    <a16:rowId xmlns:a16="http://schemas.microsoft.com/office/drawing/2014/main" val="2980593411"/>
                  </a:ext>
                </a:extLst>
              </a:tr>
              <a:tr h="611704">
                <a:tc>
                  <a:txBody>
                    <a:bodyPr/>
                    <a:lstStyle/>
                    <a:p>
                      <a:pPr>
                        <a:buNone/>
                      </a:pPr>
                      <a:r>
                        <a:rPr lang="en-IN"/>
                        <a:t>Output: Synthetic images.</a:t>
                      </a:r>
                    </a:p>
                  </a:txBody>
                  <a:tcPr anchor="ctr"/>
                </a:tc>
                <a:tc>
                  <a:txBody>
                    <a:bodyPr/>
                    <a:lstStyle/>
                    <a:p>
                      <a:pPr>
                        <a:buNone/>
                      </a:pPr>
                      <a:r>
                        <a:rPr lang="en-US"/>
                        <a:t>Output: Object/face detection and recognition.</a:t>
                      </a:r>
                    </a:p>
                  </a:txBody>
                  <a:tcPr anchor="ctr"/>
                </a:tc>
                <a:extLst>
                  <a:ext uri="{0D108BD9-81ED-4DB2-BD59-A6C34878D82A}">
                    <a16:rowId xmlns:a16="http://schemas.microsoft.com/office/drawing/2014/main" val="2062658352"/>
                  </a:ext>
                </a:extLst>
              </a:tr>
              <a:tr h="611704">
                <a:tc>
                  <a:txBody>
                    <a:bodyPr/>
                    <a:lstStyle/>
                    <a:p>
                      <a:pPr>
                        <a:buNone/>
                      </a:pPr>
                      <a:r>
                        <a:rPr lang="en-US" dirty="0"/>
                        <a:t>Example: AR furniture, game characters.</a:t>
                      </a:r>
                    </a:p>
                  </a:txBody>
                  <a:tcPr anchor="ctr"/>
                </a:tc>
                <a:tc>
                  <a:txBody>
                    <a:bodyPr/>
                    <a:lstStyle/>
                    <a:p>
                      <a:pPr>
                        <a:buNone/>
                      </a:pPr>
                      <a:r>
                        <a:rPr lang="en-US" dirty="0"/>
                        <a:t>Example: Face detection, object tracking.</a:t>
                      </a:r>
                    </a:p>
                  </a:txBody>
                  <a:tcPr anchor="ctr"/>
                </a:tc>
                <a:extLst>
                  <a:ext uri="{0D108BD9-81ED-4DB2-BD59-A6C34878D82A}">
                    <a16:rowId xmlns:a16="http://schemas.microsoft.com/office/drawing/2014/main" val="3377007622"/>
                  </a:ext>
                </a:extLst>
              </a:tr>
            </a:tbl>
          </a:graphicData>
        </a:graphic>
      </p:graphicFrame>
    </p:spTree>
    <p:extLst>
      <p:ext uri="{BB962C8B-B14F-4D97-AF65-F5344CB8AC3E}">
        <p14:creationId xmlns:p14="http://schemas.microsoft.com/office/powerpoint/2010/main" val="3268635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E7FB44C-21BB-EFF5-B299-BBDCAE47695E}"/>
              </a:ext>
            </a:extLst>
          </p:cNvPr>
          <p:cNvSpPr/>
          <p:nvPr/>
        </p:nvSpPr>
        <p:spPr>
          <a:xfrm>
            <a:off x="741680" y="647700"/>
            <a:ext cx="6603999" cy="51612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B. Camera Model Usage</a:t>
            </a:r>
          </a:p>
          <a:p>
            <a:endParaRPr lang="en-US" sz="2800" b="1" dirty="0">
              <a:solidFill>
                <a:schemeClr val="tx1"/>
              </a:solidFill>
            </a:endParaRPr>
          </a:p>
          <a:p>
            <a:r>
              <a:rPr lang="en-US" sz="2800" dirty="0">
                <a:solidFill>
                  <a:schemeClr val="tx1"/>
                </a:solidFill>
              </a:rPr>
              <a:t>The </a:t>
            </a:r>
            <a:r>
              <a:rPr lang="en-US" sz="2800" b="1" dirty="0">
                <a:solidFill>
                  <a:schemeClr val="tx1"/>
                </a:solidFill>
              </a:rPr>
              <a:t>camera model</a:t>
            </a:r>
            <a:r>
              <a:rPr lang="en-US" sz="2800" dirty="0">
                <a:solidFill>
                  <a:schemeClr val="tx1"/>
                </a:solidFill>
              </a:rPr>
              <a:t> is used to:</a:t>
            </a:r>
          </a:p>
          <a:p>
            <a:pPr marL="285750" indent="-285750">
              <a:buFont typeface="Arial" panose="020B0604020202020204" pitchFamily="34" charset="0"/>
              <a:buChar char="•"/>
            </a:pPr>
            <a:r>
              <a:rPr lang="en-US" sz="2800" dirty="0">
                <a:solidFill>
                  <a:schemeClr val="tx1"/>
                </a:solidFill>
              </a:rPr>
              <a:t>📷 Capture the real-world scene. </a:t>
            </a:r>
          </a:p>
          <a:p>
            <a:pPr marL="285750" indent="-285750">
              <a:buFont typeface="Arial" panose="020B0604020202020204" pitchFamily="34" charset="0"/>
              <a:buChar char="•"/>
            </a:pPr>
            <a:r>
              <a:rPr lang="en-US" sz="2800" dirty="0">
                <a:solidFill>
                  <a:schemeClr val="tx1"/>
                </a:solidFill>
              </a:rPr>
              <a:t>📍 Estimate camera position and orientation. </a:t>
            </a:r>
          </a:p>
          <a:p>
            <a:pPr marL="285750" indent="-285750">
              <a:buFont typeface="Arial" panose="020B0604020202020204" pitchFamily="34" charset="0"/>
              <a:buChar char="•"/>
            </a:pPr>
            <a:r>
              <a:rPr lang="en-US" sz="2800" dirty="0">
                <a:solidFill>
                  <a:schemeClr val="tx1"/>
                </a:solidFill>
              </a:rPr>
              <a:t>🎯 Align virtual objects with the real scene. </a:t>
            </a:r>
          </a:p>
          <a:p>
            <a:pPr marL="285750" indent="-285750">
              <a:buFont typeface="Arial" panose="020B0604020202020204" pitchFamily="34" charset="0"/>
              <a:buChar char="•"/>
            </a:pPr>
            <a:r>
              <a:rPr lang="en-US" sz="2800" dirty="0">
                <a:solidFill>
                  <a:schemeClr val="tx1"/>
                </a:solidFill>
              </a:rPr>
              <a:t>🔄 Ensure accurate AR object placement.</a:t>
            </a:r>
          </a:p>
        </p:txBody>
      </p:sp>
      <p:sp>
        <p:nvSpPr>
          <p:cNvPr id="6" name="Oval 5">
            <a:extLst>
              <a:ext uri="{FF2B5EF4-FFF2-40B4-BE49-F238E27FC236}">
                <a16:creationId xmlns:a16="http://schemas.microsoft.com/office/drawing/2014/main" id="{22DDF1A0-50B0-2365-CBEA-639A9FC74E04}"/>
              </a:ext>
            </a:extLst>
          </p:cNvPr>
          <p:cNvSpPr/>
          <p:nvPr/>
        </p:nvSpPr>
        <p:spPr>
          <a:xfrm>
            <a:off x="7904480" y="320040"/>
            <a:ext cx="3728720" cy="599948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 Camera</a:t>
            </a:r>
          </a:p>
          <a:p>
            <a:pPr algn="ctr"/>
            <a:r>
              <a:rPr lang="en-IN" sz="2000" dirty="0">
                <a:solidFill>
                  <a:schemeClr val="tx1"/>
                </a:solidFill>
              </a:rPr>
              <a:t>     │</a:t>
            </a:r>
          </a:p>
          <a:p>
            <a:pPr algn="ctr"/>
            <a:r>
              <a:rPr lang="en-IN" sz="2000" dirty="0">
                <a:solidFill>
                  <a:schemeClr val="tx1"/>
                </a:solidFill>
              </a:rPr>
              <a:t>     ▼</a:t>
            </a:r>
          </a:p>
          <a:p>
            <a:pPr algn="ctr"/>
            <a:r>
              <a:rPr lang="en-IN" sz="2000" dirty="0">
                <a:solidFill>
                  <a:schemeClr val="tx1"/>
                </a:solidFill>
              </a:rPr>
              <a:t>🌄 Capture Scene</a:t>
            </a:r>
          </a:p>
          <a:p>
            <a:pPr algn="ctr"/>
            <a:r>
              <a:rPr lang="en-IN" sz="2000" dirty="0">
                <a:solidFill>
                  <a:schemeClr val="tx1"/>
                </a:solidFill>
              </a:rPr>
              <a:t>     │</a:t>
            </a:r>
          </a:p>
          <a:p>
            <a:pPr algn="ctr"/>
            <a:r>
              <a:rPr lang="en-IN" sz="2000" dirty="0">
                <a:solidFill>
                  <a:schemeClr val="tx1"/>
                </a:solidFill>
              </a:rPr>
              <a:t>     ▼</a:t>
            </a:r>
          </a:p>
          <a:p>
            <a:pPr algn="ctr"/>
            <a:r>
              <a:rPr lang="en-IN" sz="2000" dirty="0">
                <a:solidFill>
                  <a:schemeClr val="tx1"/>
                </a:solidFill>
              </a:rPr>
              <a:t>📐 Camera Model</a:t>
            </a:r>
          </a:p>
          <a:p>
            <a:pPr algn="ctr"/>
            <a:r>
              <a:rPr lang="en-IN" sz="2000" dirty="0">
                <a:solidFill>
                  <a:schemeClr val="tx1"/>
                </a:solidFill>
              </a:rPr>
              <a:t>     │</a:t>
            </a:r>
          </a:p>
          <a:p>
            <a:pPr algn="ctr"/>
            <a:r>
              <a:rPr lang="en-IN" sz="2000" dirty="0">
                <a:solidFill>
                  <a:schemeClr val="tx1"/>
                </a:solidFill>
              </a:rPr>
              <a:t>     ▼</a:t>
            </a:r>
          </a:p>
          <a:p>
            <a:pPr algn="ctr"/>
            <a:r>
              <a:rPr lang="en-IN" sz="2000" dirty="0">
                <a:solidFill>
                  <a:schemeClr val="tx1"/>
                </a:solidFill>
              </a:rPr>
              <a:t>🎨 Render Virtual Object</a:t>
            </a:r>
          </a:p>
          <a:p>
            <a:pPr algn="ctr"/>
            <a:r>
              <a:rPr lang="en-IN" sz="2000" dirty="0">
                <a:solidFill>
                  <a:schemeClr val="tx1"/>
                </a:solidFill>
              </a:rPr>
              <a:t>     │</a:t>
            </a:r>
          </a:p>
          <a:p>
            <a:pPr algn="ctr"/>
            <a:r>
              <a:rPr lang="en-IN" sz="2000" dirty="0">
                <a:solidFill>
                  <a:schemeClr val="tx1"/>
                </a:solidFill>
              </a:rPr>
              <a:t>     ▼</a:t>
            </a:r>
          </a:p>
          <a:p>
            <a:pPr algn="ctr"/>
            <a:r>
              <a:rPr lang="en-IN" sz="2000" dirty="0">
                <a:solidFill>
                  <a:schemeClr val="tx1"/>
                </a:solidFill>
              </a:rPr>
              <a:t>📱 AR Display</a:t>
            </a:r>
          </a:p>
        </p:txBody>
      </p:sp>
    </p:spTree>
    <p:extLst>
      <p:ext uri="{BB962C8B-B14F-4D97-AF65-F5344CB8AC3E}">
        <p14:creationId xmlns:p14="http://schemas.microsoft.com/office/powerpoint/2010/main" val="504082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A13DFF-235C-4436-1F66-2EC68FCA45D8}"/>
              </a:ext>
            </a:extLst>
          </p:cNvPr>
          <p:cNvSpPr/>
          <p:nvPr/>
        </p:nvSpPr>
        <p:spPr>
          <a:xfrm>
            <a:off x="1005840" y="203200"/>
            <a:ext cx="9326880" cy="6035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200" b="1" dirty="0">
                <a:solidFill>
                  <a:schemeClr val="tx1"/>
                </a:solidFill>
              </a:rPr>
              <a:t>C. Real-Time Challenges</a:t>
            </a:r>
          </a:p>
          <a:p>
            <a:pPr algn="just"/>
            <a:endParaRPr lang="en-IN" sz="2800" dirty="0">
              <a:solidFill>
                <a:schemeClr val="tx1">
                  <a:lumMod val="65000"/>
                  <a:lumOff val="35000"/>
                </a:schemeClr>
              </a:solidFill>
            </a:endParaRPr>
          </a:p>
          <a:p>
            <a:pPr marL="285750" indent="-285750" algn="just">
              <a:buFont typeface="Arial" panose="020B0604020202020204" pitchFamily="34" charset="0"/>
              <a:buChar char="•"/>
            </a:pPr>
            <a:r>
              <a:rPr lang="en-IN" sz="2800" dirty="0">
                <a:solidFill>
                  <a:schemeClr val="tx1">
                    <a:lumMod val="65000"/>
                    <a:lumOff val="35000"/>
                  </a:schemeClr>
                </a:solidFill>
              </a:rPr>
              <a:t>⚡ Fast image processing (low latency) </a:t>
            </a:r>
          </a:p>
          <a:p>
            <a:pPr marL="285750" indent="-285750" algn="just">
              <a:buFont typeface="Arial" panose="020B0604020202020204" pitchFamily="34" charset="0"/>
              <a:buChar char="•"/>
            </a:pPr>
            <a:r>
              <a:rPr lang="en-IN" sz="2800" dirty="0">
                <a:solidFill>
                  <a:schemeClr val="tx1">
                    <a:lumMod val="65000"/>
                    <a:lumOff val="35000"/>
                  </a:schemeClr>
                </a:solidFill>
              </a:rPr>
              <a:t>🎯 Accurate object/feature tracking </a:t>
            </a:r>
          </a:p>
          <a:p>
            <a:pPr marL="285750" indent="-285750" algn="just">
              <a:buFont typeface="Arial" panose="020B0604020202020204" pitchFamily="34" charset="0"/>
              <a:buChar char="•"/>
            </a:pPr>
            <a:r>
              <a:rPr lang="en-IN" sz="2800" dirty="0">
                <a:solidFill>
                  <a:schemeClr val="tx1">
                    <a:lumMod val="65000"/>
                    <a:lumOff val="35000"/>
                  </a:schemeClr>
                </a:solidFill>
              </a:rPr>
              <a:t>💡 Handling changing lighting conditions </a:t>
            </a:r>
          </a:p>
          <a:p>
            <a:pPr marL="285750" indent="-285750" algn="just">
              <a:buFont typeface="Arial" panose="020B0604020202020204" pitchFamily="34" charset="0"/>
              <a:buChar char="•"/>
            </a:pPr>
            <a:r>
              <a:rPr lang="en-IN" sz="2800" dirty="0">
                <a:solidFill>
                  <a:schemeClr val="tx1">
                    <a:lumMod val="65000"/>
                    <a:lumOff val="35000"/>
                  </a:schemeClr>
                </a:solidFill>
              </a:rPr>
              <a:t>📷 Camera motion and blur </a:t>
            </a:r>
          </a:p>
          <a:p>
            <a:pPr marL="285750" indent="-285750" algn="just">
              <a:buFont typeface="Arial" panose="020B0604020202020204" pitchFamily="34" charset="0"/>
              <a:buChar char="•"/>
            </a:pPr>
            <a:r>
              <a:rPr lang="en-IN" sz="2800" dirty="0">
                <a:solidFill>
                  <a:schemeClr val="tx1">
                    <a:lumMod val="65000"/>
                    <a:lumOff val="35000"/>
                  </a:schemeClr>
                </a:solidFill>
              </a:rPr>
              <a:t>🔋 Limited mobile CPU, GPU, and battery </a:t>
            </a:r>
          </a:p>
          <a:p>
            <a:pPr marL="285750" indent="-285750" algn="just">
              <a:buFont typeface="Arial" panose="020B0604020202020204" pitchFamily="34" charset="0"/>
              <a:buChar char="•"/>
            </a:pPr>
            <a:r>
              <a:rPr lang="en-IN" sz="2800" dirty="0">
                <a:solidFill>
                  <a:schemeClr val="tx1">
                    <a:lumMod val="65000"/>
                    <a:lumOff val="35000"/>
                  </a:schemeClr>
                </a:solidFill>
              </a:rPr>
              <a:t>🧩 Maintaining stable AR object placement</a:t>
            </a:r>
            <a:endParaRPr lang="en-IN" sz="3200" dirty="0">
              <a:solidFill>
                <a:schemeClr val="tx1">
                  <a:lumMod val="65000"/>
                  <a:lumOff val="35000"/>
                </a:schemeClr>
              </a:solidFill>
            </a:endParaRPr>
          </a:p>
        </p:txBody>
      </p:sp>
    </p:spTree>
    <p:extLst>
      <p:ext uri="{BB962C8B-B14F-4D97-AF65-F5344CB8AC3E}">
        <p14:creationId xmlns:p14="http://schemas.microsoft.com/office/powerpoint/2010/main" val="24937083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98</TotalTime>
  <Words>403</Words>
  <Application>Microsoft Office PowerPoint</Application>
  <PresentationFormat>Widescreen</PresentationFormat>
  <Paragraphs>73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Rockwell</vt:lpstr>
      <vt:lpstr>Rockwell Condensed</vt:lpstr>
      <vt:lpstr>Wingdings</vt:lpstr>
      <vt:lpstr>Wood Type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DIVA KARAN P</dc:creator>
  <cp:lastModifiedBy>DIVA KARAN P</cp:lastModifiedBy>
  <cp:revision>4</cp:revision>
  <dcterms:created xsi:type="dcterms:W3CDTF">2026-07-14T05:13:32Z</dcterms:created>
  <dcterms:modified xsi:type="dcterms:W3CDTF">2026-07-16T08:50:32Z</dcterms:modified>
</cp:coreProperties>
</file>